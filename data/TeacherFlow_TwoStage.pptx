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0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371600"/>
            <a:ext cx="137160" cy="18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37160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FFFFFF"/>
                </a:solidFill>
              </a:defRPr>
            </a:pPr>
            <a:r>
              <a:t>TeacherFlow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5603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F59E0B"/>
                </a:solidFill>
              </a:defRPr>
            </a:pPr>
            <a:r>
              <a:t>교사 업무 자동화 플랫폼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65760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B7280"/>
                </a:solidFill>
              </a:defRPr>
            </a:pPr>
            <a:r>
              <a:t>교실의 시간을 되돌려 드립니다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54864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2026 | Investor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2037"/>
                </a:solidFill>
              </a:defRPr>
            </a:pPr>
            <a:r>
              <a:t>교사는 왜 바쁜가?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3716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2286000" cy="1645920"/>
          </a:xfrm>
          <a:prstGeom prst="rect">
            <a:avLst/>
          </a:prstGeom>
          <a:solidFill>
            <a:srgbClr val="F8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9E0B"/>
                </a:solidFill>
              </a:defRPr>
            </a:pPr>
            <a:r>
              <a:t>52h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6B7280"/>
                </a:solidFill>
              </a:defRPr>
            </a:pPr>
            <a:r>
              <a:t>주당 평균 근무시간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828800"/>
            <a:ext cx="2286000" cy="1645920"/>
          </a:xfrm>
          <a:prstGeom prst="rect">
            <a:avLst/>
          </a:prstGeom>
          <a:solidFill>
            <a:srgbClr val="F8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20574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F4444"/>
                </a:solidFill>
              </a:defRPr>
            </a:pPr>
            <a:r>
              <a:t>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6B7280"/>
                </a:solidFill>
              </a:defRPr>
            </a:pPr>
            <a:r>
              <a:t>행정 업무 비율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828800"/>
            <a:ext cx="2286000" cy="1645920"/>
          </a:xfrm>
          <a:prstGeom prst="rect">
            <a:avLst/>
          </a:prstGeom>
          <a:solidFill>
            <a:srgbClr val="F8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20574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B7280"/>
                </a:solidFill>
              </a:defRPr>
            </a:pPr>
            <a:r>
              <a:t>0개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6B7280"/>
                </a:solidFill>
              </a:defRPr>
            </a:pPr>
            <a:r>
              <a:t>자동화 도구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828800"/>
            <a:ext cx="2286000" cy="1645920"/>
          </a:xfrm>
          <a:prstGeom prst="rect">
            <a:avLst/>
          </a:prstGeom>
          <a:solidFill>
            <a:srgbClr val="F8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20574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B82F6"/>
                </a:solidFill>
              </a:defRPr>
            </a:pPr>
            <a:r>
              <a:t>50만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6B7280"/>
                </a:solidFill>
              </a:defRPr>
            </a:pPr>
            <a:r>
              <a:t>전국 교사 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1148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B7280"/>
                </a:solidFill>
              </a:defRPr>
            </a:pPr>
            <a:r>
              <a:t>공문 처리, 성적 입력, 양식 작성, 생기부 기록...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48056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B7280"/>
                </a:solidFill>
              </a:defRPr>
            </a:pPr>
            <a:r>
              <a:t>교사의 전문성은 수업에 있지만, 시간의 40%를 행정에 뺏기고 있습니다.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8463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B7280"/>
                </a:solidFill>
              </a:defRPr>
            </a:pPr>
            <a:r>
              <a:t>대안은? HWP를 다루는 자동화 도구는 사실상 전무합니다.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9E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TeacherFlow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84048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0D0"/>
                </a:solidFill>
              </a:defRPr>
            </a:pPr>
            <a:r>
              <a:t>파일 넣고 → 실행 → 완성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037"/>
                </a:solidFill>
              </a:defRPr>
            </a:pPr>
            <a:r>
              <a:t>제품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3716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109728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618488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037"/>
                </a:solidFill>
              </a:defRPr>
            </a:pPr>
            <a:r>
              <a:t>노코드 업무 자동화 데스크톱 앱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148840"/>
            <a:ext cx="109728" cy="109728"/>
          </a:xfrm>
          <a:prstGeom prst="rect">
            <a:avLst/>
          </a:prstGeom>
          <a:solidFill>
            <a:srgbClr val="1F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121408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037"/>
                </a:solidFill>
              </a:defRPr>
            </a:pPr>
            <a:r>
              <a:t>HWP/HWPX, Excel, PDF, DOCX 네이티브 지원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651760"/>
            <a:ext cx="109728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2624328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037"/>
                </a:solidFill>
              </a:defRPr>
            </a:pPr>
            <a:r>
              <a:t>AI 기반 문서 자동 작성 + 양식 채우기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154680"/>
            <a:ext cx="109728" cy="109728"/>
          </a:xfrm>
          <a:prstGeom prst="rect">
            <a:avLst/>
          </a:prstGeom>
          <a:solidFill>
            <a:srgbClr val="1F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3127248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037"/>
                </a:solidFill>
              </a:defRPr>
            </a:pPr>
            <a:r>
              <a:t>오프라인 동작 (학교 네트워크 제약 대응)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657600"/>
            <a:ext cx="109728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3630168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037"/>
                </a:solidFill>
              </a:defRPr>
            </a:pPr>
            <a:r>
              <a:t>열려있는 한/글·Excel·PPT를 AI가 직접 제어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160520"/>
            <a:ext cx="109728" cy="109728"/>
          </a:xfrm>
          <a:prstGeom prst="rect">
            <a:avLst/>
          </a:prstGeom>
          <a:solidFill>
            <a:srgbClr val="1F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4133087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037"/>
                </a:solidFill>
              </a:defRPr>
            </a:pPr>
            <a:r>
              <a:t>교사 맞춤 프리셋으로 원클릭 실행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9E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핵심 기능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84048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0D0"/>
                </a:solidFill>
              </a:defRPr>
            </a:pPr>
            <a:r>
              <a:t>4가지 핵심 가치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037"/>
                </a:solidFill>
              </a:defRPr>
            </a:pPr>
            <a:r>
              <a:t>① 양식 자동 채우기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3716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029200" cy="320040"/>
          </a:xfrm>
          <a:prstGeom prst="rect">
            <a:avLst/>
          </a:prstGeom>
          <a:solidFill>
            <a:srgbClr val="1F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기능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828800"/>
            <a:ext cx="502920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효과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B7280"/>
                </a:solidFill>
              </a:defRPr>
            </a:pPr>
            <a:r>
              <a:t>공문 양식(HWP/Excel) 업로드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97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B7280"/>
                </a:solidFill>
              </a:defRPr>
            </a:pPr>
            <a:r>
              <a:t>AI가 빈칸 자동 감지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089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B7280"/>
                </a:solidFill>
              </a:defRPr>
            </a:pPr>
            <a:r>
              <a:t>맥락 기반 내용 생성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20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B7280"/>
                </a:solidFill>
              </a:defRPr>
            </a:pPr>
            <a:r>
              <a:t>원본 서식 100% 보존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319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B7280"/>
                </a:solidFill>
              </a:defRPr>
            </a:pPr>
            <a:r>
              <a:t>매크로·수식 영향 없음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286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B7280"/>
                </a:solidFill>
              </a:defRPr>
            </a:pPr>
            <a:r>
              <a:t>교사 작업: 파일 1개 드래그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697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B7280"/>
                </a:solidFill>
              </a:defRPr>
            </a:pPr>
            <a:r>
              <a:t>소요 시간: 30분 → 2분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1089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B7280"/>
                </a:solidFill>
              </a:defRPr>
            </a:pPr>
            <a:r>
              <a:t>지원 포맷: HWP, HWPX, XLSX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520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B7280"/>
                </a:solidFill>
              </a:defRPr>
            </a:pPr>
            <a:r>
              <a:t>COM API + openpyxl 기반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319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B7280"/>
                </a:solidFill>
              </a:defRPr>
            </a:pPr>
            <a:r>
              <a:t>양식 종류 무제한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037"/>
                </a:solidFill>
              </a:defRPr>
            </a:pPr>
            <a:r>
              <a:t>② 라이브 문서 제어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3716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029200" cy="320040"/>
          </a:xfrm>
          <a:prstGeom prst="rect">
            <a:avLst/>
          </a:prstGeom>
          <a:solidFill>
            <a:srgbClr val="1F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기능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828800"/>
            <a:ext cx="502920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기술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B7280"/>
                </a:solidFill>
              </a:defRPr>
            </a:pPr>
            <a:r>
              <a:t>한/글 Excel PPT 실시간 연결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97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B7280"/>
                </a:solidFill>
              </a:defRPr>
            </a:pPr>
            <a:r>
              <a:t>열려있는 문서에 AI가 직접 작성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089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B7280"/>
                </a:solidFill>
              </a:defRPr>
            </a:pPr>
            <a:r>
              <a:t>채팅으로 지시 → 즉시 반영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20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B7280"/>
                </a:solidFill>
              </a:defRPr>
            </a:pPr>
            <a:r>
              <a:t>25개 COM API 액션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286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B7280"/>
                </a:solidFill>
              </a:defRPr>
            </a:pPr>
            <a:r>
              <a:t>앱별 LLM 스킬 프롬프트 내장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697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B7280"/>
                </a:solidFill>
              </a:defRPr>
            </a:pPr>
            <a:r>
              <a:t>GPT-4.1로도 정확한 제어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1089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B7280"/>
                </a:solidFill>
              </a:defRPr>
            </a:pPr>
            <a:r>
              <a:t>프로세스 자동 감지 (10초)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520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B7280"/>
                </a:solidFill>
              </a:defRPr>
            </a:pPr>
            <a:r>
              <a:t>한/글 COM + 보안 모듈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037"/>
                </a:solidFill>
              </a:defRPr>
            </a:pPr>
            <a:r>
              <a:t>③ 성적 분석 자동화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3716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029200" cy="320040"/>
          </a:xfrm>
          <a:prstGeom prst="rect">
            <a:avLst/>
          </a:prstGeom>
          <a:solidFill>
            <a:srgbClr val="1F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분석 항목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828800"/>
            <a:ext cx="502920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특징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B7280"/>
                </a:solidFill>
              </a:defRPr>
            </a:pPr>
            <a:r>
              <a:t>성적 Excel 업로드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97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B7280"/>
                </a:solidFill>
              </a:defRPr>
            </a:pPr>
            <a:r>
              <a:t>문항별 정답률 자동 산출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089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B7280"/>
                </a:solidFill>
              </a:defRPr>
            </a:pPr>
            <a:r>
              <a:t>반별 평균·표준편차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20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B7280"/>
                </a:solidFill>
              </a:defRPr>
            </a:pPr>
            <a:r>
              <a:t>학생 순위 (상위 N명)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286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B7280"/>
                </a:solidFill>
              </a:defRPr>
            </a:pPr>
            <a:r>
              <a:t>수식 기반 (값이 아닌 수식 삽입)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697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B7280"/>
                </a:solidFill>
              </a:defRPr>
            </a:pPr>
            <a:r>
              <a:t>원본 데이터 손상 없음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1089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B7280"/>
                </a:solidFill>
              </a:defRPr>
            </a:pPr>
            <a:r>
              <a:t>새 시트에 분석 결과 생성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520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B7280"/>
                </a:solidFill>
              </a:defRPr>
            </a:pPr>
            <a:r>
              <a:t>COM API로 실시간 작성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037"/>
                </a:solidFill>
              </a:defRPr>
            </a:pPr>
            <a:r>
              <a:t>④ 노드 기반 워크플로우 (고급)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3716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109728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618488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037"/>
                </a:solidFill>
              </a:defRPr>
            </a:pPr>
            <a:r>
              <a:t>고급 사용자를 위한 VBA 모드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148840"/>
            <a:ext cx="109728" cy="109728"/>
          </a:xfrm>
          <a:prstGeom prst="rect">
            <a:avLst/>
          </a:prstGeom>
          <a:solidFill>
            <a:srgbClr val="1F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121408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037"/>
                </a:solidFill>
              </a:defRPr>
            </a:pPr>
            <a:r>
              <a:t>31개 노드 드래그&amp;드롭 조합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651760"/>
            <a:ext cx="109728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2624328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037"/>
                </a:solidFill>
              </a:defRPr>
            </a:pPr>
            <a:r>
              <a:t>PDF→변환→AI→출력 자유 파이프라인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154680"/>
            <a:ext cx="109728" cy="109728"/>
          </a:xfrm>
          <a:prstGeom prst="rect">
            <a:avLst/>
          </a:prstGeom>
          <a:solidFill>
            <a:srgbClr val="1F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3127248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037"/>
                </a:solidFill>
              </a:defRPr>
            </a:pPr>
            <a:r>
              <a:t>프리셋으로 저장/공유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657600"/>
            <a:ext cx="109728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3630168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037"/>
                </a:solidFill>
              </a:defRPr>
            </a:pPr>
            <a:r>
              <a:t>엔진이 DAG 위상정렬 → 순차 실행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160520"/>
            <a:ext cx="109728" cy="109728"/>
          </a:xfrm>
          <a:prstGeom prst="rect">
            <a:avLst/>
          </a:prstGeom>
          <a:solidFill>
            <a:srgbClr val="1F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4133087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037"/>
                </a:solidFill>
              </a:defRPr>
            </a:pPr>
            <a:r>
              <a:t>React Flow 비주얼 에디터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037"/>
                </a:solidFill>
              </a:defRPr>
            </a:pPr>
            <a:r>
              <a:t>기술 아키텍처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3716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109728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618488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037"/>
                </a:solidFill>
              </a:defRPr>
            </a:pPr>
            <a:r>
              <a:t>Tauri v2 — 설치 10MB, 메모리 30MB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148840"/>
            <a:ext cx="109728" cy="109728"/>
          </a:xfrm>
          <a:prstGeom prst="rect">
            <a:avLst/>
          </a:prstGeom>
          <a:solidFill>
            <a:srgbClr val="1F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121408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037"/>
                </a:solidFill>
              </a:defRPr>
            </a:pPr>
            <a:r>
              <a:t>Python FastAPI — 33+ API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651760"/>
            <a:ext cx="109728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2624328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037"/>
                </a:solidFill>
              </a:defRPr>
            </a:pPr>
            <a:r>
              <a:t>React + React Flow — 4모드 UI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154680"/>
            <a:ext cx="109728" cy="109728"/>
          </a:xfrm>
          <a:prstGeom prst="rect">
            <a:avLst/>
          </a:prstGeom>
          <a:solidFill>
            <a:srgbClr val="1F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3127248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037"/>
                </a:solidFill>
              </a:defRPr>
            </a:pPr>
            <a:r>
              <a:t>COM API — HWP/Excel/PPT 제어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657600"/>
            <a:ext cx="109728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3630168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037"/>
                </a:solidFill>
              </a:defRPr>
            </a:pPr>
            <a:r>
              <a:t>LLM 통합 — Claude, GPT, Gemini, llama.cpp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160520"/>
            <a:ext cx="109728" cy="109728"/>
          </a:xfrm>
          <a:prstGeom prst="rect">
            <a:avLst/>
          </a:prstGeom>
          <a:solidFill>
            <a:srgbClr val="1F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4133087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037"/>
                </a:solidFill>
              </a:defRPr>
            </a:pPr>
            <a:r>
              <a:t>오프라인 우선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037"/>
                </a:solidFill>
              </a:defRPr>
            </a:pPr>
            <a:r>
              <a:t>경쟁 환경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3716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515600" cy="914400"/>
          </a:xfrm>
          <a:prstGeom prst="rect">
            <a:avLst/>
          </a:prstGeom>
          <a:solidFill>
            <a:srgbClr val="F8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F4444"/>
                </a:solidFill>
              </a:defRPr>
            </a:pPr>
            <a:r>
              <a:t>ChatGPT/Gemini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HWP 미지원, 온라인만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743200"/>
            <a:ext cx="10515600" cy="914400"/>
          </a:xfrm>
          <a:prstGeom prst="rect">
            <a:avLst/>
          </a:prstGeom>
          <a:solidFill>
            <a:srgbClr val="F8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97316"/>
                </a:solidFill>
              </a:defRPr>
            </a:pPr>
            <a:r>
              <a:t>Inline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HWP만, 양식 채우기 없음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840480"/>
            <a:ext cx="10515600" cy="914400"/>
          </a:xfrm>
          <a:prstGeom prst="rect">
            <a:avLst/>
          </a:prstGeom>
          <a:solidFill>
            <a:srgbClr val="F8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776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B7280"/>
                </a:solidFill>
              </a:defRPr>
            </a:pPr>
            <a:r>
              <a:t>MS Copilot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434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HWP 미지원, 유료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937759"/>
            <a:ext cx="10515600" cy="9144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0749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TeacherFlow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440679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모든 포맷 + 오프라인 + 무료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037"/>
                </a:solidFill>
              </a:defRPr>
            </a:pPr>
            <a:r>
              <a:t>시나리오: 공문 처리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3716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45720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719072"/>
            <a:ext cx="103628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037"/>
                </a:solidFill>
              </a:defRPr>
            </a:pPr>
            <a:r>
              <a:t>교육청에서 공문 도착 (ODT + 첨부)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286000"/>
            <a:ext cx="45720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359152"/>
            <a:ext cx="103628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037"/>
                </a:solidFill>
              </a:defRPr>
            </a:pPr>
            <a:r>
              <a:t>첨부된 양식(HWP) 드래그&amp;드롭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926080"/>
            <a:ext cx="45720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999232"/>
            <a:ext cx="103628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037"/>
                </a:solidFill>
              </a:defRPr>
            </a:pPr>
            <a:r>
              <a:t>AI가 빈칸 감지 + 내용 자동 생성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566159"/>
            <a:ext cx="45720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56615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639311"/>
            <a:ext cx="103628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037"/>
                </a:solidFill>
              </a:defRPr>
            </a:pPr>
            <a:r>
              <a:t>교사 확인 → 즉시 제출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754880"/>
            <a:ext cx="4572000" cy="109728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292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F4444"/>
                </a:solidFill>
              </a:defRPr>
            </a:pPr>
            <a:r>
              <a:t>Before: 30분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4754880"/>
            <a:ext cx="5303520" cy="109728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0" y="502920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After: 2분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037"/>
                </a:solidFill>
              </a:defRPr>
            </a:pPr>
            <a:r>
              <a:t>시나리오: 시험 성적 처리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3716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45720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719072"/>
            <a:ext cx="103628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037"/>
                </a:solidFill>
              </a:defRPr>
            </a:pPr>
            <a:r>
              <a:t>성적 Excel 업로드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286000"/>
            <a:ext cx="45720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359152"/>
            <a:ext cx="103628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037"/>
                </a:solidFill>
              </a:defRPr>
            </a:pPr>
            <a:r>
              <a:t>'분석 탭 만들어줘' 클릭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926080"/>
            <a:ext cx="45720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999232"/>
            <a:ext cx="103628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037"/>
                </a:solidFill>
              </a:defRPr>
            </a:pPr>
            <a:r>
              <a:t>문항별 정답률+반별 평균+순위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566159"/>
            <a:ext cx="45720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56615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639311"/>
            <a:ext cx="103628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037"/>
                </a:solidFill>
              </a:defRPr>
            </a:pPr>
            <a:r>
              <a:t>분석 시트 자동 생성→인쇄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754880"/>
            <a:ext cx="4572000" cy="109728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292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F4444"/>
                </a:solidFill>
              </a:defRPr>
            </a:pPr>
            <a:r>
              <a:t>Before: 2시간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4754880"/>
            <a:ext cx="5303520" cy="109728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0" y="502920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After: 30초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037"/>
                </a:solidFill>
              </a:defRPr>
            </a:pPr>
            <a:r>
              <a:t>시나리오: 생기부 작성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3716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45720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719072"/>
            <a:ext cx="103628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037"/>
                </a:solidFill>
              </a:defRPr>
            </a:pPr>
            <a:r>
              <a:t>학생 활동 자료 업로드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286000"/>
            <a:ext cx="45720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359152"/>
            <a:ext cx="103628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037"/>
                </a:solidFill>
              </a:defRPr>
            </a:pPr>
            <a:r>
              <a:t>AI가 생기부 초안 생성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926080"/>
            <a:ext cx="45720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999232"/>
            <a:ext cx="103628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037"/>
                </a:solidFill>
              </a:defRPr>
            </a:pPr>
            <a:r>
              <a:t>교사가 수정/보완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566159"/>
            <a:ext cx="45720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56615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639311"/>
            <a:ext cx="103628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037"/>
                </a:solidFill>
              </a:defRPr>
            </a:pPr>
            <a:r>
              <a:t>HWP로 저장→NEIS 붙여넣기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754880"/>
            <a:ext cx="4572000" cy="109728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292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F4444"/>
                </a:solidFill>
              </a:defRPr>
            </a:pPr>
            <a:r>
              <a:t>Before: 40분/명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4754880"/>
            <a:ext cx="5303520" cy="109728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0" y="502920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After: 5분/명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037"/>
                </a:solidFill>
              </a:defRPr>
            </a:pPr>
            <a:r>
              <a:t>비즈니스 모델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3716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3383280" cy="3200400"/>
          </a:xfrm>
          <a:prstGeom prst="rect">
            <a:avLst/>
          </a:prstGeom>
          <a:solidFill>
            <a:srgbClr val="F8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3383280" cy="73152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Free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B7280"/>
                </a:solidFill>
              </a:defRPr>
            </a:pPr>
            <a:r>
              <a:t>무료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6B7280"/>
                </a:solidFill>
              </a:defRPr>
            </a:pPr>
            <a:r>
              <a:t>오프라인 기능 전체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1828800"/>
            <a:ext cx="3383280" cy="3200400"/>
          </a:xfrm>
          <a:prstGeom prst="rect">
            <a:avLst/>
          </a:prstGeom>
          <a:solidFill>
            <a:srgbClr val="F8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59" y="1828800"/>
            <a:ext cx="3383280" cy="731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182880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Pro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26974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59E0B"/>
                </a:solidFill>
              </a:defRPr>
            </a:pPr>
            <a:r>
              <a:t>₩9,900/월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338328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6B7280"/>
                </a:solidFill>
              </a:defRPr>
            </a:pPr>
            <a:r>
              <a:t>API AI + 클라우드 동기화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828800"/>
            <a:ext cx="3383280" cy="3200400"/>
          </a:xfrm>
          <a:prstGeom prst="rect">
            <a:avLst/>
          </a:prstGeom>
          <a:solidFill>
            <a:srgbClr val="F8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828800"/>
            <a:ext cx="3383280" cy="731520"/>
          </a:xfrm>
          <a:prstGeom prst="rect">
            <a:avLst/>
          </a:prstGeom>
          <a:solidFill>
            <a:srgbClr val="1F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82880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School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6974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F2037"/>
                </a:solidFill>
              </a:defRPr>
            </a:pPr>
            <a:r>
              <a:t>₩100만/년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38328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6B7280"/>
                </a:solidFill>
              </a:defRPr>
            </a:pPr>
            <a:r>
              <a:t>학교 라이센스 + 관리자 대시보드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037"/>
                </a:solidFill>
              </a:defRPr>
            </a:pPr>
            <a:r>
              <a:t>개발 로드맵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3716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109728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618488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037"/>
                </a:solidFill>
              </a:defRPr>
            </a:pPr>
            <a:r>
              <a:t>2026 Q2 — 베타 출시 (교사 100명)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148840"/>
            <a:ext cx="109728" cy="109728"/>
          </a:xfrm>
          <a:prstGeom prst="rect">
            <a:avLst/>
          </a:prstGeom>
          <a:solidFill>
            <a:srgbClr val="1F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121408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037"/>
                </a:solidFill>
              </a:defRPr>
            </a:pPr>
            <a:r>
              <a:t>2026 Q3 — 정식 출시 + 노드 50개 + 마켓플레이스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651760"/>
            <a:ext cx="109728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2624328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037"/>
                </a:solidFill>
              </a:defRPr>
            </a:pPr>
            <a:r>
              <a:t>2026 Q4 — 학교 라이센스 + 교육청 파일럿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154680"/>
            <a:ext cx="109728" cy="109728"/>
          </a:xfrm>
          <a:prstGeom prst="rect">
            <a:avLst/>
          </a:prstGeom>
          <a:solidFill>
            <a:srgbClr val="1F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3127248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037"/>
                </a:solidFill>
              </a:defRPr>
            </a:pPr>
            <a:r>
              <a:t>2027 Q1 — 로컬 LLM 완전 오프라인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657600"/>
            <a:ext cx="109728" cy="109728"/>
          </a:xfrm>
          <a:prstGeom prst="rect">
            <a:avLst/>
          </a:prstGeom>
          <a:solidFill>
            <a:srgbClr val="1F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3630168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037"/>
                </a:solidFill>
              </a:defRPr>
            </a:pPr>
            <a:r>
              <a:t>2027 Q2 — 모바일 동반자 앱 + API 개방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037"/>
                </a:solidFill>
              </a:defRPr>
            </a:pPr>
            <a:r>
              <a:t>팀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3716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1828800"/>
            <a:ext cx="8229600" cy="3657600"/>
          </a:xfrm>
          <a:prstGeom prst="rect">
            <a:avLst/>
          </a:prstGeom>
          <a:solidFill>
            <a:srgbClr val="F8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21031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037"/>
                </a:solidFill>
              </a:defRPr>
            </a:pPr>
            <a:r>
              <a:t>신병철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7432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9E0B"/>
                </a:solidFill>
              </a:defRPr>
            </a:pPr>
            <a:r>
              <a:t>창업자 / 개발자 / 현직 고등학교 수학 교사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33832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B7280"/>
                </a:solidFill>
              </a:defRPr>
            </a:pPr>
            <a:r>
              <a:t>미션: "공교육의 반격을 통한 사교육 시장의 붕괴"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37033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B7280"/>
                </a:solidFill>
              </a:defRPr>
            </a:pPr>
            <a:r>
              <a:t>edu-shin.com 운영 (RAG 기반 생기부 시스템)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4023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B7280"/>
                </a:solidFill>
              </a:defRPr>
            </a:pPr>
            <a:r>
              <a:t>6대 장비 클러스터 직접 구축·운영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43434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B7280"/>
                </a:solidFill>
              </a:defRPr>
            </a:pPr>
            <a:r>
              <a:t>Python/React/COM API 풀스택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037"/>
                </a:solidFill>
              </a:defRPr>
            </a:pPr>
            <a:r>
              <a:t>현재 진행 상황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3716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2286000" cy="1645920"/>
          </a:xfrm>
          <a:prstGeom prst="rect">
            <a:avLst/>
          </a:prstGeom>
          <a:solidFill>
            <a:srgbClr val="F8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9E0B"/>
                </a:solidFill>
              </a:defRPr>
            </a:pPr>
            <a:r>
              <a:t>31+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6B7280"/>
                </a:solidFill>
              </a:defRPr>
            </a:pPr>
            <a:r>
              <a:t>노드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1828800"/>
            <a:ext cx="2286000" cy="1645920"/>
          </a:xfrm>
          <a:prstGeom prst="rect">
            <a:avLst/>
          </a:prstGeom>
          <a:solidFill>
            <a:srgbClr val="F8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1760" y="21031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B82F6"/>
                </a:solidFill>
              </a:defRPr>
            </a:pPr>
            <a:r>
              <a:t>33+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6B7280"/>
                </a:solidFill>
              </a:defRPr>
            </a:pPr>
            <a:r>
              <a:t>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828800"/>
            <a:ext cx="2286000" cy="1645920"/>
          </a:xfrm>
          <a:prstGeom prst="rect">
            <a:avLst/>
          </a:prstGeom>
          <a:solidFill>
            <a:srgbClr val="F8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1031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9E0B"/>
                </a:solidFill>
              </a:defRPr>
            </a:pPr>
            <a:r>
              <a:t>3개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6B7280"/>
                </a:solidFill>
              </a:defRPr>
            </a:pPr>
            <a:r>
              <a:t>라이브제어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840480"/>
            <a:ext cx="2286000" cy="1645920"/>
          </a:xfrm>
          <a:prstGeom prst="rect">
            <a:avLst/>
          </a:prstGeom>
          <a:solidFill>
            <a:srgbClr val="F8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1148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B82F6"/>
                </a:solidFill>
              </a:defRPr>
            </a:pPr>
            <a:r>
              <a:t>4모드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800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6B7280"/>
                </a:solidFill>
              </a:defRPr>
            </a:pPr>
            <a:r>
              <a:t>UI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1760" y="3840480"/>
            <a:ext cx="2286000" cy="1645920"/>
          </a:xfrm>
          <a:prstGeom prst="rect">
            <a:avLst/>
          </a:prstGeom>
          <a:solidFill>
            <a:srgbClr val="F8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51760" y="41148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9E0B"/>
                </a:solidFill>
              </a:defRPr>
            </a:pPr>
            <a:r>
              <a:t>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4800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6B7280"/>
                </a:solidFill>
              </a:defRPr>
            </a:pPr>
            <a:r>
              <a:t>COM액션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3840480"/>
            <a:ext cx="2286000" cy="1645920"/>
          </a:xfrm>
          <a:prstGeom prst="rect">
            <a:avLst/>
          </a:prstGeom>
          <a:solidFill>
            <a:srgbClr val="F8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1148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B82F6"/>
                </a:solidFill>
              </a:defRPr>
            </a:pPr>
            <a:r>
              <a:t>3개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800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6B7280"/>
                </a:solidFill>
              </a:defRPr>
            </a:pPr>
            <a:r>
              <a:t>LLM스킬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0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투자 제안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13716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59E0B"/>
                </a:solidFill>
              </a:defRPr>
            </a:pPr>
            <a:r>
              <a:t>시드 라운드: 3억원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200400"/>
            <a:ext cx="36576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27832"/>
            <a:ext cx="103628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CCCCC"/>
                </a:solidFill>
              </a:defRPr>
            </a:pPr>
            <a:r>
              <a:t>풀타임 개발자 2명 (18개월)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749039"/>
            <a:ext cx="36576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74903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776472"/>
            <a:ext cx="103628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CCCCC"/>
                </a:solidFill>
              </a:defRPr>
            </a:pPr>
            <a:r>
              <a:t>서버/인프라 (LLM API 비용)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297680"/>
            <a:ext cx="36576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97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325112"/>
            <a:ext cx="103628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CCCCC"/>
                </a:solidFill>
              </a:defRPr>
            </a:pPr>
            <a:r>
              <a:t>교사 커뮤니티 구축 + 바이럴 마케팅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4846320"/>
            <a:ext cx="36576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846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873752"/>
            <a:ext cx="103628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CCCCC"/>
                </a:solidFill>
              </a:defRPr>
            </a:pPr>
            <a:r>
              <a:t>교육청 파일럿 운영 (3개 시·도)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0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828800"/>
            <a:ext cx="137160" cy="228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82880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교실의 시간을</a:t>
            </a:r>
            <a:br/>
            <a:r>
              <a:t>되돌립니다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9E0B"/>
                </a:solidFill>
              </a:defRPr>
            </a:pPr>
            <a:r>
              <a:t>TeacherFlow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45720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B7280"/>
                </a:solidFill>
              </a:defRPr>
            </a:pPr>
            <a:r>
              <a:t>신병철 | shin@edu-shin.com | edu-shin.com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9377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B7280"/>
                </a:solidFill>
              </a:defRPr>
            </a:pPr>
            <a: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