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0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800" b="1">
                <a:solidFill>
                  <a:srgbClr val="F59E0B"/>
                </a:solidFill>
              </a:defRPr>
            </a:pPr>
            <a:r>
              <a:t>TeacherFlow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교사 업무 자동화 플랫폼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2037"/>
                </a:solidFill>
              </a:defRPr>
            </a:pPr>
            <a:r>
              <a:t>교사 업무 과부하, 심각합니다.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00400" cy="19202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4800" b="1">
                <a:solidFill>
                  <a:srgbClr val="1F2037"/>
                </a:solidFill>
              </a:defRPr>
            </a:pPr>
            <a:r>
              <a:t>53.2시간</a:t>
            </a:r>
          </a:p>
          <a:p>
            <a:pPr algn="ctr">
              <a:defRPr sz="2000" b="0">
                <a:solidFill>
                  <a:srgbClr val="1F2037"/>
                </a:solidFill>
              </a:defRPr>
            </a:pPr>
            <a:r>
              <a:t>평균 주간 업무시간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95647" y="2011680"/>
            <a:ext cx="3200400" cy="1920240"/>
          </a:xfrm>
          <a:prstGeom prst="roundRect">
            <a:avLst/>
          </a:prstGeom>
          <a:solidFill>
            <a:srgbClr val="F59E0B"/>
          </a:solidFill>
          <a:ln w="38100">
            <a:solidFill>
              <a:srgbClr val="1F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4800" b="1">
                <a:solidFill>
                  <a:srgbClr val="FFFFFF"/>
                </a:solidFill>
              </a:defRPr>
            </a:pPr>
            <a:r>
              <a:t>43%</a:t>
            </a:r>
          </a:p>
          <a:p>
            <a:pPr algn="ctr">
              <a:defRPr sz="2000" b="0">
                <a:solidFill>
                  <a:srgbClr val="FFFFFF"/>
                </a:solidFill>
              </a:defRPr>
            </a:pPr>
            <a:r>
              <a:t>행정업무 비중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76895" y="2011680"/>
            <a:ext cx="3200400" cy="19202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4800" b="1">
                <a:solidFill>
                  <a:srgbClr val="1F2037"/>
                </a:solidFill>
              </a:defRPr>
            </a:pPr>
            <a:r>
              <a:t>50만명</a:t>
            </a:r>
          </a:p>
          <a:p>
            <a:pPr algn="ctr">
              <a:defRPr sz="2000" b="0">
                <a:solidFill>
                  <a:srgbClr val="1F2037"/>
                </a:solidFill>
              </a:defRPr>
            </a:pPr>
            <a:r>
              <a:t>전국 교사 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1F2037"/>
                </a:solidFill>
              </a:defRPr>
            </a:pPr>
            <a:r>
              <a:t>서류, 공문, 성적 입력 등 비효율적 반복작업이 교사 과로 주원인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59E0B"/>
                </a:solidFill>
              </a:defRPr>
            </a:pPr>
            <a:r>
              <a:t>TeacherFlow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0">
                <a:solidFill>
                  <a:srgbClr val="1F2037"/>
                </a:solidFill>
              </a:defRPr>
            </a:pPr>
            <a:r>
              <a:t>AI 기반 교사 업무 자동화 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834640"/>
            <a:ext cx="85340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1F2037"/>
                </a:solidFill>
              </a:defRPr>
            </a:pPr>
            <a:r>
              <a:t>• 교사 서류·성적·생기부 등 반복 업무 자동화</a:t>
            </a:r>
          </a:p>
          <a:p>
            <a:pPr>
              <a:defRPr sz="2200">
                <a:solidFill>
                  <a:srgbClr val="1F2037"/>
                </a:solidFill>
              </a:defRPr>
            </a:pPr>
            <a:r>
              <a:t>• AI가 HWP/Excel/PPT를 직접 제어, 빈칸 감지 및 작성</a:t>
            </a:r>
          </a:p>
          <a:p>
            <a:pPr>
              <a:defRPr sz="2200">
                <a:solidFill>
                  <a:srgbClr val="1F2037"/>
                </a:solidFill>
              </a:defRPr>
            </a:pPr>
            <a:r>
              <a:t>• 오프라인 동작(로컬 LLM), 안전한 데이터 처리</a:t>
            </a:r>
          </a:p>
          <a:p>
            <a:pPr>
              <a:defRPr sz="2200">
                <a:solidFill>
                  <a:srgbClr val="1F2037"/>
                </a:solidFill>
              </a:defRPr>
            </a:pPr>
            <a:r>
              <a:t>• 전국 50만 교사 대상 무료/유료 모델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F2037"/>
                </a:solidFill>
              </a:defRPr>
            </a:pPr>
            <a:r>
              <a:t>주요 기능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03120"/>
            <a:ext cx="2011680" cy="2103120"/>
          </a:xfrm>
          <a:prstGeom prst="rect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AI 양식 자동 채우기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빈칸 감지→LLM 작성→원본 주입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0" y="2103120"/>
            <a:ext cx="201168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sz="1800" b="1">
                <a:solidFill>
                  <a:srgbClr val="F59E0B"/>
                </a:solidFill>
              </a:defRPr>
            </a:pPr>
            <a:r>
              <a:t>문서 프로그램 실시간 제어</a:t>
            </a:r>
          </a:p>
          <a:p>
            <a:pPr>
              <a:defRPr sz="1400">
                <a:solidFill>
                  <a:srgbClr val="1F2037"/>
                </a:solidFill>
              </a:defRPr>
            </a:pPr>
            <a:r>
              <a:t>HWP/Excel/PPT를 AI가 직접 조작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2103120"/>
            <a:ext cx="2011680" cy="2103120"/>
          </a:xfrm>
          <a:prstGeom prst="rect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노드 기반 워크플로우 에디터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VBA 같은 고급 자동화, 시각적 매핑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2103120"/>
            <a:ext cx="201168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sz="1800" b="1">
                <a:solidFill>
                  <a:srgbClr val="F59E0B"/>
                </a:solidFill>
              </a:defRPr>
            </a:pPr>
            <a:r>
              <a:t>프리셋 원클릭 실행</a:t>
            </a:r>
          </a:p>
          <a:p>
            <a:pPr>
              <a:defRPr sz="1400">
                <a:solidFill>
                  <a:srgbClr val="1F2037"/>
                </a:solidFill>
              </a:defRPr>
            </a:pPr>
            <a:r>
              <a:t>자주 쓰는 작업은 홈화면에서 즉시 자동화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0" y="2103120"/>
            <a:ext cx="2011680" cy="2103120"/>
          </a:xfrm>
          <a:prstGeom prst="rect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오프라인 동작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로컬 LLM, 개인정보 유출 걱정 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2037"/>
                </a:solidFill>
              </a:defRPr>
            </a:pPr>
            <a:r>
              <a:t>AI 양식 자동 채우기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9713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1F2037"/>
                </a:solidFill>
              </a:defRPr>
            </a:pPr>
            <a:r>
              <a:t>• 빈칸/필드 자동 감지</a:t>
            </a:r>
          </a:p>
          <a:p>
            <a:pPr>
              <a:defRPr sz="2000">
                <a:solidFill>
                  <a:srgbClr val="1F2037"/>
                </a:solidFill>
              </a:defRPr>
            </a:pPr>
            <a:r>
              <a:t>• AI(로컬 LLM)로 내용 생성</a:t>
            </a:r>
          </a:p>
          <a:p>
            <a:pPr>
              <a:defRPr sz="2000">
                <a:solidFill>
                  <a:srgbClr val="1F2037"/>
                </a:solidFill>
              </a:defRPr>
            </a:pPr>
            <a:r>
              <a:t>• 원본 문서에 직접 주입</a:t>
            </a:r>
          </a:p>
          <a:p>
            <a:pPr>
              <a:defRPr sz="2000">
                <a:solidFill>
                  <a:srgbClr val="1F2037"/>
                </a:solidFill>
              </a:defRPr>
            </a:pPr>
            <a:r>
              <a:t>• 예: 생활기록부, 공문, 상담일지 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2037"/>
                </a:solidFill>
              </a:defRPr>
            </a:pPr>
            <a:r>
              <a:t>문서 프로그램 실시간 제어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9713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1F2037"/>
                </a:solidFill>
              </a:defRPr>
            </a:pPr>
            <a:r>
              <a:t>• HWP, Excel, PowerPoint 등 주요 문서 프로그램을</a:t>
            </a:r>
          </a:p>
          <a:p>
            <a:pPr>
              <a:defRPr sz="2000">
                <a:solidFill>
                  <a:srgbClr val="1F2037"/>
                </a:solidFill>
              </a:defRPr>
            </a:pPr>
            <a:r>
              <a:t>  AI가 직접(COMA API) 조작</a:t>
            </a:r>
          </a:p>
          <a:p>
            <a:pPr>
              <a:defRPr sz="2000">
                <a:solidFill>
                  <a:srgbClr val="1F2037"/>
                </a:solidFill>
              </a:defRPr>
            </a:pPr>
            <a:r>
              <a:t>• 데이터를 읽고, 쓰고, 계산까지 자동으로</a:t>
            </a:r>
          </a:p>
          <a:p>
            <a:pPr>
              <a:defRPr sz="2000">
                <a:solidFill>
                  <a:srgbClr val="1F2037"/>
                </a:solidFill>
              </a:defRPr>
            </a:pPr>
            <a:r>
              <a:t>• 반복작업, 데이터 전처리, 일괄 입력 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2037"/>
                </a:solidFill>
              </a:defRPr>
            </a:pPr>
            <a:r>
              <a:t>성적 분석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9713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1F2037"/>
                </a:solidFill>
              </a:defRPr>
            </a:pPr>
            <a:r>
              <a:t>• 엑셀 성적표 자동 분석</a:t>
            </a:r>
          </a:p>
          <a:p>
            <a:pPr>
              <a:defRPr sz="2000">
                <a:solidFill>
                  <a:srgbClr val="1F2037"/>
                </a:solidFill>
              </a:defRPr>
            </a:pPr>
            <a:r>
              <a:t>• 학생별/반별 주요 통계 자동 계산</a:t>
            </a:r>
          </a:p>
          <a:p>
            <a:pPr>
              <a:defRPr sz="2000">
                <a:solidFill>
                  <a:srgbClr val="1F2037"/>
                </a:solidFill>
              </a:defRPr>
            </a:pPr>
            <a:r>
              <a:t>• 성적/생활기록부/상담기록 일괄 연계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2037"/>
                </a:solidFill>
              </a:defRPr>
            </a:pPr>
            <a:r>
              <a:t>노드 기반 워크플로우 에디터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9713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1F2037"/>
                </a:solidFill>
              </a:defRPr>
            </a:pPr>
            <a:r>
              <a:t>• 시각적으로 조건/반복/입출력 연결</a:t>
            </a:r>
          </a:p>
          <a:p>
            <a:pPr>
              <a:defRPr sz="2000">
                <a:solidFill>
                  <a:srgbClr val="1F2037"/>
                </a:solidFill>
              </a:defRPr>
            </a:pPr>
            <a:r>
              <a:t>• 고급 자동화: VBA처럼 자유롭게 설계</a:t>
            </a:r>
          </a:p>
          <a:p>
            <a:pPr>
              <a:defRPr sz="2000">
                <a:solidFill>
                  <a:srgbClr val="1F2037"/>
                </a:solidFill>
              </a:defRPr>
            </a:pPr>
            <a:r>
              <a:t>• 예) ① 서류 읽기 → ② 필드 추출 → ③ AI작성 → ④ 저장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2037"/>
                </a:solidFill>
              </a:defRPr>
            </a:pPr>
            <a:r>
              <a:t>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9713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1F2037"/>
                </a:solidFill>
              </a:defRPr>
            </a:pPr>
            <a:r>
              <a:t>• 데스크톱 앱(Python 기반), COM API로 문서 직접 제어</a:t>
            </a:r>
          </a:p>
          <a:p>
            <a:pPr>
              <a:defRPr sz="2000">
                <a:solidFill>
                  <a:srgbClr val="1F2037"/>
                </a:solidFill>
              </a:defRPr>
            </a:pPr>
            <a:r>
              <a:t>• Node/Graph 기반 워크플로우 엔진</a:t>
            </a:r>
          </a:p>
          <a:p>
            <a:pPr>
              <a:defRPr sz="2000">
                <a:solidFill>
                  <a:srgbClr val="1F2037"/>
                </a:solidFill>
              </a:defRPr>
            </a:pPr>
            <a:r>
              <a:t>• 로컬 LLM 내장, 오프라인 AI 동작</a:t>
            </a:r>
          </a:p>
          <a:p>
            <a:pPr>
              <a:defRPr sz="2000">
                <a:solidFill>
                  <a:srgbClr val="1F2037"/>
                </a:solidFill>
              </a:defRPr>
            </a:pPr>
            <a:r>
              <a:t>• Preset/Marketplace 구조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2037"/>
                </a:solidFill>
              </a:defRPr>
            </a:pPr>
            <a:r>
              <a:t>차별화 포인트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2560320" cy="1463040"/>
          </a:xfrm>
          <a:prstGeom prst="rect">
            <a:avLst/>
          </a:prstGeom>
          <a:solidFill>
            <a:srgbClr val="FFFFFF"/>
          </a:solidFill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800" b="1">
                <a:solidFill>
                  <a:srgbClr val="F59E0B"/>
                </a:solidFill>
              </a:defRPr>
            </a:pPr>
            <a:r>
              <a:t>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194560"/>
            <a:ext cx="1280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1F2037"/>
                </a:solidFill>
              </a:defRPr>
            </a:pPr>
            <a:r>
              <a:t>오프라인/로컬 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834640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1F2037"/>
                </a:solidFill>
              </a:defRPr>
            </a:pPr>
            <a:r>
              <a:t>개인정보 유출 우려 無, 보안성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40" y="2011680"/>
            <a:ext cx="2560320" cy="1463040"/>
          </a:xfrm>
          <a:prstGeom prst="rect">
            <a:avLst/>
          </a:prstGeom>
          <a:solidFill>
            <a:srgbClr val="FFFFFF"/>
          </a:solidFill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1031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800" b="1">
                <a:solidFill>
                  <a:srgbClr val="F59E0B"/>
                </a:solidFill>
              </a:defRPr>
            </a:pPr>
            <a:r>
              <a:t>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194560"/>
            <a:ext cx="1280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1F2037"/>
                </a:solidFill>
              </a:defRPr>
            </a:pPr>
            <a:r>
              <a:t>AI의 직접 문서 제어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834640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1F2037"/>
                </a:solidFill>
              </a:defRPr>
            </a:pPr>
            <a:r>
              <a:t>실제 HWP/Excel/PPT API 제어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011680"/>
            <a:ext cx="2560320" cy="1463040"/>
          </a:xfrm>
          <a:prstGeom prst="rect">
            <a:avLst/>
          </a:prstGeom>
          <a:solidFill>
            <a:srgbClr val="FFFFFF"/>
          </a:solidFill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1031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800" b="1">
                <a:solidFill>
                  <a:srgbClr val="F59E0B"/>
                </a:solidFill>
              </a:defRPr>
            </a:pPr>
            <a:r>
              <a:t>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194560"/>
            <a:ext cx="1280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1F2037"/>
                </a:solidFill>
              </a:defRPr>
            </a:pPr>
            <a:r>
              <a:t>노드 기반 고급 자동화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834640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1F2037"/>
                </a:solidFill>
              </a:defRPr>
            </a:pPr>
            <a:r>
              <a:t>VBA/매크로 대체, 시각적 워크플로우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0" y="2011680"/>
            <a:ext cx="2560320" cy="1463040"/>
          </a:xfrm>
          <a:prstGeom prst="rect">
            <a:avLst/>
          </a:prstGeom>
          <a:solidFill>
            <a:srgbClr val="FFFFFF"/>
          </a:solidFill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21031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800" b="1">
                <a:solidFill>
                  <a:srgbClr val="F59E0B"/>
                </a:solidFill>
              </a:defRPr>
            </a:pPr>
            <a:r>
              <a:t>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2194560"/>
            <a:ext cx="1280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1F2037"/>
                </a:solidFill>
              </a:defRPr>
            </a:pPr>
            <a:r>
              <a:t>무료+Pro 모델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2834640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1F2037"/>
                </a:solidFill>
              </a:defRPr>
            </a:pPr>
            <a:r>
              <a:t>전국 교사 50만명 진입장벽 제거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2037"/>
                </a:solidFill>
              </a:defRPr>
            </a:pPr>
            <a:r>
              <a:t>경쟁 분석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920240"/>
          <a:ext cx="85039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011680"/>
                <a:gridCol w="2377440"/>
                <a:gridCol w="2011680"/>
              </a:tblGrid>
              <a:tr h="36576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TeacherFlow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타 워크플로우툴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AI자동화툴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2037"/>
                          </a:solidFill>
                        </a:defRPr>
                      </a:pPr>
                      <a:r>
                        <a:t>문서 직접 제어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2037"/>
                          </a:solidFill>
                        </a:defRPr>
                      </a:pPr>
                      <a: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2037"/>
                          </a:solidFill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2037"/>
                          </a:solidFill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2037"/>
                          </a:solidFill>
                        </a:defRPr>
                      </a:pPr>
                      <a:r>
                        <a:t>오프라인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2037"/>
                          </a:solidFill>
                        </a:defRPr>
                      </a:pPr>
                      <a: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2037"/>
                          </a:solidFill>
                        </a:defRPr>
                      </a:pPr>
                      <a:r>
                        <a:t>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2037"/>
                          </a:solidFill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2037"/>
                          </a:solidFill>
                        </a:defRPr>
                      </a:pPr>
                      <a:r>
                        <a:t>노드 에디터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2037"/>
                          </a:solidFill>
                        </a:defRPr>
                      </a:pPr>
                      <a: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2037"/>
                          </a:solidFill>
                        </a:defRPr>
                      </a:pPr>
                      <a: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2037"/>
                          </a:solidFill>
                        </a:defRPr>
                      </a:pPr>
                      <a:r>
                        <a:t>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2037"/>
                          </a:solidFill>
                        </a:defRPr>
                      </a:pPr>
                      <a:r>
                        <a:t>교사 특화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2037"/>
                          </a:solidFill>
                        </a:defRPr>
                      </a:pPr>
                      <a: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2037"/>
                          </a:solidFill>
                        </a:defRPr>
                      </a:pPr>
                      <a:r>
                        <a:t>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2037"/>
                          </a:solidFill>
                        </a:defRPr>
                      </a:pPr>
                      <a:r>
                        <a:t>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2037"/>
                          </a:solidFill>
                        </a:defRPr>
                      </a:pPr>
                      <a:r>
                        <a:t>무료 배포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2037"/>
                          </a:solidFill>
                        </a:defRPr>
                      </a:pPr>
                      <a: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2037"/>
                          </a:solidFill>
                        </a:defRPr>
                      </a:pPr>
                      <a:r>
                        <a:t>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2037"/>
                          </a:solidFill>
                        </a:defRPr>
                      </a:pPr>
                      <a:r>
                        <a:t>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F2037"/>
                </a:solidFill>
              </a:defRPr>
            </a:pPr>
            <a:r>
              <a:t>사용 시나리오 ①</a:t>
            </a:r>
            <a:br/>
            <a:r>
              <a:t>생활기록부 대량 작성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Before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78727" y="10058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560320" cy="1371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4800" b="1">
                <a:solidFill>
                  <a:srgbClr val="1F2037"/>
                </a:solidFill>
              </a:defRPr>
            </a:pPr>
            <a:r>
              <a:t>2시간+</a:t>
            </a:r>
          </a:p>
          <a:p>
            <a:pPr algn="ctr">
              <a:defRPr sz="2000" b="0">
                <a:solidFill>
                  <a:srgbClr val="1F2037"/>
                </a:solidFill>
              </a:defRPr>
            </a:pPr>
            <a:r>
              <a:t>처리 시간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7287" y="1463040"/>
            <a:ext cx="2560320" cy="1371600"/>
          </a:xfrm>
          <a:prstGeom prst="roundRect">
            <a:avLst/>
          </a:prstGeom>
          <a:solidFill>
            <a:srgbClr val="F59E0B"/>
          </a:solidFill>
          <a:ln w="38100">
            <a:solidFill>
              <a:srgbClr val="1F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10분</a:t>
            </a:r>
          </a:p>
          <a:p>
            <a:pPr algn="ctr">
              <a:defRPr sz="2000" b="0">
                <a:solidFill>
                  <a:srgbClr val="FFFFFF"/>
                </a:solidFill>
              </a:defRPr>
            </a:pPr>
            <a:r>
              <a:t>처리 시간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907127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1F2037"/>
                </a:solidFill>
              </a:defRPr>
            </a:pPr>
            <a:r>
              <a:t>학생 30명 생활기록부, 직접 입력</a:t>
            </a:r>
            <a:br/>
            <a:r>
              <a:t>- 반복 복붙, 시간 소모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7287" y="2926080"/>
            <a:ext cx="4907127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1F2037"/>
                </a:solidFill>
              </a:defRPr>
            </a:pPr>
            <a:r>
              <a:t>AI가 자동 채우기/작성</a:t>
            </a:r>
            <a:br/>
            <a:r>
              <a:t>- 클릭 한 번, 오류 없이 일괄 완성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F2037"/>
                </a:solidFill>
              </a:defRPr>
            </a:pPr>
            <a:r>
              <a:t>사용 시나리오 ②</a:t>
            </a:r>
            <a:br/>
            <a:r>
              <a:t>성적표 통계·분석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Before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78727" y="10058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560320" cy="1371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4800" b="1">
                <a:solidFill>
                  <a:srgbClr val="1F2037"/>
                </a:solidFill>
              </a:defRPr>
            </a:pPr>
            <a:r>
              <a:t>1시간</a:t>
            </a:r>
          </a:p>
          <a:p>
            <a:pPr algn="ctr">
              <a:defRPr sz="2000" b="0">
                <a:solidFill>
                  <a:srgbClr val="1F2037"/>
                </a:solidFill>
              </a:defRPr>
            </a:pPr>
            <a:r>
              <a:t>처리 시간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7287" y="1463040"/>
            <a:ext cx="2560320" cy="1371600"/>
          </a:xfrm>
          <a:prstGeom prst="roundRect">
            <a:avLst/>
          </a:prstGeom>
          <a:solidFill>
            <a:srgbClr val="F59E0B"/>
          </a:solidFill>
          <a:ln w="38100">
            <a:solidFill>
              <a:srgbClr val="1F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4800" b="1">
                <a:solidFill>
                  <a:srgbClr val="FFFFFF"/>
                </a:solidFill>
              </a:defRPr>
            </a:pPr>
            <a:r>
              <a:t>3분</a:t>
            </a:r>
          </a:p>
          <a:p>
            <a:pPr algn="ctr">
              <a:defRPr sz="2000" b="0">
                <a:solidFill>
                  <a:srgbClr val="FFFFFF"/>
                </a:solidFill>
              </a:defRPr>
            </a:pPr>
            <a:r>
              <a:t>처리 시간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907127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1F2037"/>
                </a:solidFill>
              </a:defRPr>
            </a:pPr>
            <a:r>
              <a:t>반별/학생별 성적/통계 수작업, 피벗/수식</a:t>
            </a:r>
            <a:br/>
            <a:r>
              <a:t>- 복잡, 오류 우려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7287" y="2926080"/>
            <a:ext cx="4907127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1F2037"/>
                </a:solidFill>
              </a:defRPr>
            </a:pPr>
            <a:r>
              <a:t>엑셀 자동분석/그래프 생성</a:t>
            </a:r>
            <a:br/>
            <a:r>
              <a:t>- 클릭 한 번, 즉시 결과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F2037"/>
                </a:solidFill>
              </a:defRPr>
            </a:pPr>
            <a:r>
              <a:t>사용 시나리오 ③</a:t>
            </a:r>
            <a:br/>
            <a:r>
              <a:t>공문/보고서 반복 작성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Before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78727" y="10058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560320" cy="1371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4800" b="1">
                <a:solidFill>
                  <a:srgbClr val="1F2037"/>
                </a:solidFill>
              </a:defRPr>
            </a:pPr>
            <a:r>
              <a:t>30분</a:t>
            </a:r>
          </a:p>
          <a:p>
            <a:pPr algn="ctr">
              <a:defRPr sz="2000" b="0">
                <a:solidFill>
                  <a:srgbClr val="1F2037"/>
                </a:solidFill>
              </a:defRPr>
            </a:pPr>
            <a:r>
              <a:t>처리 시간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7287" y="1463040"/>
            <a:ext cx="2560320" cy="1371600"/>
          </a:xfrm>
          <a:prstGeom prst="roundRect">
            <a:avLst/>
          </a:prstGeom>
          <a:solidFill>
            <a:srgbClr val="F59E0B"/>
          </a:solidFill>
          <a:ln w="38100">
            <a:solidFill>
              <a:srgbClr val="1F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1분</a:t>
            </a:r>
          </a:p>
          <a:p>
            <a:pPr algn="ctr">
              <a:defRPr sz="2000" b="0">
                <a:solidFill>
                  <a:srgbClr val="FFFFFF"/>
                </a:solidFill>
              </a:defRPr>
            </a:pPr>
            <a:r>
              <a:t>처리 시간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907127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1F2037"/>
                </a:solidFill>
              </a:defRPr>
            </a:pPr>
            <a:r>
              <a:t>매주 공문/보고서 복붙 및 편집, 수작업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7287" y="2926080"/>
            <a:ext cx="4907127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1F2037"/>
                </a:solidFill>
              </a:defRPr>
            </a:pPr>
            <a:r>
              <a:t>프리셋+AI로 자동 생성, 반복 업무 해방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2037"/>
                </a:solidFill>
              </a:defRPr>
            </a:pPr>
            <a:r>
              <a:t>비즈니스 모델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329184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4800" b="1">
                <a:solidFill>
                  <a:srgbClr val="1F2037"/>
                </a:solidFill>
              </a:defRPr>
            </a:pPr>
            <a:r>
              <a:t>기본 워크플로우, AI 자동작성, 전국 누구나</a:t>
            </a:r>
          </a:p>
          <a:p>
            <a:pPr algn="ctr">
              <a:defRPr sz="2000" b="0">
                <a:solidFill>
                  <a:srgbClr val="1F2037"/>
                </a:solidFill>
              </a:defRPr>
            </a:pPr>
            <a:r>
              <a:t>무료 (Free)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19" y="2011680"/>
            <a:ext cx="3291840" cy="2011680"/>
          </a:xfrm>
          <a:prstGeom prst="roundRect">
            <a:avLst/>
          </a:prstGeom>
          <a:solidFill>
            <a:srgbClr val="F59E0B"/>
          </a:solidFill>
          <a:ln w="38100">
            <a:solidFill>
              <a:srgbClr val="1F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4800" b="1">
                <a:solidFill>
                  <a:srgbClr val="FFFFFF"/>
                </a:solidFill>
              </a:defRPr>
            </a:pPr>
            <a:r>
              <a:t>고급 노드 에디터, 프리셋 저장, 추가 AI</a:t>
            </a:r>
          </a:p>
          <a:p>
            <a:pPr algn="ctr">
              <a:defRPr sz="2000" b="0">
                <a:solidFill>
                  <a:srgbClr val="FFFFFF"/>
                </a:solidFill>
              </a:defRPr>
            </a:pPr>
            <a:r>
              <a:t>Pro (월 9,900원)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95358" y="2011680"/>
            <a:ext cx="329184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4800" b="1">
                <a:solidFill>
                  <a:srgbClr val="1F2037"/>
                </a:solidFill>
              </a:defRPr>
            </a:pPr>
            <a:r>
              <a:t>학교 단위 배포/커스터마이징, 프리셋 마켓</a:t>
            </a:r>
          </a:p>
          <a:p>
            <a:pPr algn="ctr">
              <a:defRPr sz="2000" b="0">
                <a:solidFill>
                  <a:srgbClr val="1F2037"/>
                </a:solidFill>
              </a:defRPr>
            </a:pPr>
            <a:r>
              <a:t>School(기관)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2037"/>
                </a:solidFill>
              </a:defRPr>
            </a:pPr>
            <a:r>
              <a:t>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2148840"/>
            <a:ext cx="290565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05740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05840" cy="457200"/>
          </a:xfrm>
          <a:prstGeom prst="rect">
            <a:avLst/>
          </a:prstGeom>
          <a:noFill/>
        </p:spPr>
        <p:txBody>
          <a:bodyPr wrap="square" bIns="0">
            <a:spAutoFit/>
          </a:bodyPr>
          <a:lstStyle/>
          <a:p/>
          <a:p>
            <a:pPr>
              <a:defRPr sz="1800" b="1">
                <a:solidFill>
                  <a:srgbClr val="1F2037"/>
                </a:solidFill>
              </a:defRPr>
            </a:pPr>
            <a:r>
              <a:t>2024 Q2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1F2037"/>
                </a:solidFill>
              </a:defRPr>
            </a:pPr>
            <a:r>
              <a:t>MVP 출시/공개 베타</a:t>
            </a:r>
          </a:p>
        </p:txBody>
      </p:sp>
      <p:sp>
        <p:nvSpPr>
          <p:cNvPr id="8" name="Rectangle 7"/>
          <p:cNvSpPr/>
          <p:nvPr/>
        </p:nvSpPr>
        <p:spPr>
          <a:xfrm>
            <a:off x="4643018" y="2148840"/>
            <a:ext cx="290565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68698" y="205740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94378" y="2560320"/>
            <a:ext cx="1005840" cy="457200"/>
          </a:xfrm>
          <a:prstGeom prst="rect">
            <a:avLst/>
          </a:prstGeom>
          <a:noFill/>
        </p:spPr>
        <p:txBody>
          <a:bodyPr wrap="square" bIns="0">
            <a:spAutoFit/>
          </a:bodyPr>
          <a:lstStyle/>
          <a:p/>
          <a:p>
            <a:pPr>
              <a:defRPr sz="1800" b="1">
                <a:solidFill>
                  <a:srgbClr val="1F2037"/>
                </a:solidFill>
              </a:defRPr>
            </a:pPr>
            <a:r>
              <a:t>2024 Q3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4378" y="29260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1F2037"/>
                </a:solidFill>
              </a:defRPr>
            </a:pPr>
            <a:r>
              <a:t>Pro/학교 버전, 프리셋 마켓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7316" y="2148840"/>
            <a:ext cx="290565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22996" y="205740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8676" y="2560320"/>
            <a:ext cx="1005840" cy="457200"/>
          </a:xfrm>
          <a:prstGeom prst="rect">
            <a:avLst/>
          </a:prstGeom>
          <a:noFill/>
        </p:spPr>
        <p:txBody>
          <a:bodyPr wrap="square" bIns="0">
            <a:spAutoFit/>
          </a:bodyPr>
          <a:lstStyle/>
          <a:p/>
          <a:p>
            <a:pPr>
              <a:defRPr sz="1800" b="1">
                <a:solidFill>
                  <a:srgbClr val="1F2037"/>
                </a:solidFill>
              </a:defRPr>
            </a:pPr>
            <a:r>
              <a:t>2024 Q4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8676" y="29260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1F2037"/>
                </a:solidFill>
              </a:defRPr>
            </a:pPr>
            <a:r>
              <a:t>전국 배포/마케팅</a:t>
            </a:r>
          </a:p>
        </p:txBody>
      </p:sp>
      <p:sp>
        <p:nvSpPr>
          <p:cNvPr id="16" name="Oval 15"/>
          <p:cNvSpPr/>
          <p:nvPr/>
        </p:nvSpPr>
        <p:spPr>
          <a:xfrm>
            <a:off x="11277295" y="205740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02975" y="2560320"/>
            <a:ext cx="1005840" cy="457200"/>
          </a:xfrm>
          <a:prstGeom prst="rect">
            <a:avLst/>
          </a:prstGeom>
          <a:noFill/>
        </p:spPr>
        <p:txBody>
          <a:bodyPr wrap="square" bIns="0">
            <a:spAutoFit/>
          </a:bodyPr>
          <a:lstStyle/>
          <a:p/>
          <a:p>
            <a:pPr>
              <a:defRPr sz="1800" b="1">
                <a:solidFill>
                  <a:srgbClr val="1F2037"/>
                </a:solidFill>
              </a:defRPr>
            </a:pPr>
            <a:r>
              <a:t>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29260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1F2037"/>
                </a:solidFill>
              </a:defRPr>
            </a:pPr>
            <a:r>
              <a:t>AI 업그레이드, 확장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2037"/>
                </a:solidFill>
              </a:defRPr>
            </a:pPr>
            <a:r>
              <a:t>팀 소개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38404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1945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solidFill>
                  <a:srgbClr val="1F2037"/>
                </a:solidFill>
              </a:defRPr>
            </a:pPr>
            <a:r>
              <a:t>신병철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517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0">
                <a:solidFill>
                  <a:srgbClr val="F59E0B"/>
                </a:solidFill>
              </a:defRPr>
            </a:pPr>
            <a:r>
              <a:t>창업자/CEO (현직 수학 교사)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3291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1F2037"/>
                </a:solidFill>
              </a:defRPr>
            </a:pPr>
            <a:r>
              <a:t>교사 경력 15년, AI 자동화/교육 데이터 전문가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53047" y="2011680"/>
            <a:ext cx="38404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27367" y="21945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solidFill>
                  <a:srgbClr val="1F2037"/>
                </a:solidFill>
              </a:defRPr>
            </a:pPr>
            <a:r>
              <a:t>강현우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7367" y="26517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0">
                <a:solidFill>
                  <a:srgbClr val="F59E0B"/>
                </a:solidFill>
              </a:defRPr>
            </a:pPr>
            <a:r>
              <a:t>CTO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7367" y="3017520"/>
            <a:ext cx="3291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1F2037"/>
                </a:solidFill>
              </a:defRPr>
            </a:pPr>
            <a:r>
              <a:t>AI/클라우드/자동화 10년, 전 네이버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2037"/>
                </a:solidFill>
              </a:defRPr>
            </a:pPr>
            <a:r>
              <a:t>트랙션 &amp; 현황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2926080" cy="15544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4800" b="1">
                <a:solidFill>
                  <a:srgbClr val="1F2037"/>
                </a:solidFill>
              </a:defRPr>
            </a:pPr>
            <a:r>
              <a:t>120명</a:t>
            </a:r>
          </a:p>
          <a:p>
            <a:pPr algn="ctr">
              <a:defRPr sz="2000" b="0">
                <a:solidFill>
                  <a:srgbClr val="1F2037"/>
                </a:solidFill>
              </a:defRPr>
            </a:pPr>
            <a:r>
              <a:t>MVP 테스트 교사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011680"/>
            <a:ext cx="2926080" cy="1554480"/>
          </a:xfrm>
          <a:prstGeom prst="roundRect">
            <a:avLst/>
          </a:prstGeom>
          <a:solidFill>
            <a:srgbClr val="F59E0B"/>
          </a:solidFill>
          <a:ln w="38100">
            <a:solidFill>
              <a:srgbClr val="1F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4800" b="1">
                <a:solidFill>
                  <a:srgbClr val="FFFFFF"/>
                </a:solidFill>
              </a:defRPr>
            </a:pPr>
            <a:r>
              <a:t>7,000+건</a:t>
            </a:r>
          </a:p>
          <a:p>
            <a:pPr algn="ctr">
              <a:defRPr sz="2000" b="0">
                <a:solidFill>
                  <a:srgbClr val="FFFFFF"/>
                </a:solidFill>
              </a:defRPr>
            </a:pPr>
            <a:r>
              <a:t>누적 자동화 업무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2926080" cy="15544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4800" b="1">
                <a:solidFill>
                  <a:srgbClr val="1F2037"/>
                </a:solidFill>
              </a:defRPr>
            </a:pPr>
            <a:r>
              <a:t>1,900명</a:t>
            </a:r>
          </a:p>
          <a:p>
            <a:pPr algn="ctr">
              <a:defRPr sz="2000" b="0">
                <a:solidFill>
                  <a:srgbClr val="1F2037"/>
                </a:solidFill>
              </a:defRPr>
            </a:pPr>
            <a:r>
              <a:t>월간 커뮤니티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0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59E0B"/>
                </a:solidFill>
              </a:defRPr>
            </a:pPr>
            <a:r>
              <a:t>투자 제안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67047" y="2743200"/>
            <a:ext cx="3657600" cy="1828800"/>
          </a:xfrm>
          <a:prstGeom prst="roundRect">
            <a:avLst/>
          </a:prstGeom>
          <a:solidFill>
            <a:srgbClr val="F59E0B"/>
          </a:solidFill>
          <a:ln w="38100">
            <a:solidFill>
              <a:srgbClr val="1F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4800" b="1">
                <a:solidFill>
                  <a:srgbClr val="FFFFFF"/>
                </a:solidFill>
              </a:defRPr>
            </a:pPr>
            <a:r>
              <a:t>3억원</a:t>
            </a:r>
          </a:p>
          <a:p>
            <a:pPr algn="ctr">
              <a:defRPr sz="2000" b="0">
                <a:solidFill>
                  <a:srgbClr val="FFFFFF"/>
                </a:solidFill>
              </a:defRPr>
            </a:pPr>
            <a:r>
              <a:t>시드 투자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754880"/>
            <a:ext cx="8534095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FFFFF"/>
                </a:solidFill>
              </a:defRPr>
            </a:pPr>
            <a:r>
              <a:t>• 전국 50만 교사 시장 진입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Edtech 최초 오프라인 LLM 자동화 플랫폼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초기 투자자와 성장 동반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0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59E0B"/>
                </a:solidFill>
              </a:defRPr>
            </a:pPr>
            <a:r>
              <a:t>함께 교사의 미래를 만듭니다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TeacherFlow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